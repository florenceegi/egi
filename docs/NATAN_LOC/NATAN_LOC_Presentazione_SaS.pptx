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F2060"/>
          </a:solidFill>
          <a:ln w="12700">
            <a:solidFill>
              <a:srgbClr val="0F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A1840"/>
          </a:solidFill>
          <a:ln w="12700">
            <a:solidFill>
              <a:srgbClr val="0A18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56E8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NATAN_LOC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documentale intelligente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AI e certificazione blockchain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4754880" cy="384048"/>
          </a:xfrm>
          <a:prstGeom prst="rect">
            <a:avLst/>
          </a:prstGeom>
          <a:solidFill>
            <a:srgbClr val="1A56E8">
              <a:alpha val="20000"/>
            </a:srgbClr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815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Presentazione per Servizi alla Strada S.p.A. — Marzo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florence EGI srl  ·  Firenze  ·  Uso riservato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E8"/>
                </a:solidFill>
              </a:rPr>
              <a:t>CHI SIAMO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Florence EGI srl è una software house fiorentina specializzata nello sviluppo di piattaforme SaaS per la gestione documentale avanzata.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51760" cy="26974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51760" cy="64008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agile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overhead, nessuna burocrazia interna. Ci muoviamo velocemente perché siamo focalizzati al 100% sul prodotto.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51760" cy="26974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91640"/>
            <a:ext cx="2651760" cy="64008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🏙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Radici fiorentine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81635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Conosciamo il territorio, le istituzioni locali e le loro esigenze operative. Non siamo un fornitore esterno.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691640"/>
            <a:ext cx="2651760" cy="2697480"/>
          </a:xfrm>
          <a:prstGeom prst="rect">
            <a:avLst/>
          </a:prstGeom>
          <a:solidFill>
            <a:srgbClr val="F0F4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91640"/>
            <a:ext cx="2651760" cy="64008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Verticalizzazione su misura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81635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vendiamo un prodotto standard. Adattiamo la piattaforma ai processi specifici di ogni cliente in 8–12 settimane.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26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3D9E"/>
                </a:solidFill>
              </a:rPr>
              <a:t>Il prodotto è production-ready: architettura multi-tenant certificata, già verticalizzato su Albo Pretorio della PA italiana con oltre 56.000 atti indicizzati.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E8"/>
                </a:solidFill>
              </a:rPr>
              <a:t>COSA FA NATAN_LOC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206240" cy="54864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969264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941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intelligente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44475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 interroga l'archivio in linguaggio naturale. Il sistema recupera documenti pertinenti con citazione delle fonti, in pochi secondi.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04672"/>
            <a:ext cx="4206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5192" y="969264"/>
            <a:ext cx="457200" cy="45720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9418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13832" y="9875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configurabile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5192" y="144475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è progettato per essere configurato su qualsiasi framework normativo: GDPR, Codice della Strada, D.Lgs. 231/01. Le procedure diventano contesto attivo che guida l'analisi documentale.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620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62072"/>
            <a:ext cx="4206240" cy="5486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026664"/>
            <a:ext cx="457200" cy="457200"/>
          </a:xfrm>
          <a:prstGeom prst="ellipse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992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Certificazione blockchain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50215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documento ottiene un timestamp crittografico immutabile su blockchain Algorand. Prova legale verificabile in caso di contestazioni.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620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862072"/>
            <a:ext cx="4206240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3026664"/>
            <a:ext cx="457200" cy="4572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29992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13832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decisionale (FARO)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5192" y="3502152"/>
            <a:ext cx="3886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management interroga il sistema in 3 modalità: panoramiche operative, supporto alle decisioni, verifica coerenza tra atti e strategie.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56E8"/>
                </a:solidFill>
              </a:rPr>
              <a:t>IL PROBLEMA CHE OGNI UFFICIO IT CONOSCE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AI con RAG allucinano.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NATAN_LOC no.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606040"/>
          </a:xfrm>
          <a:prstGeom prst="rect">
            <a:avLst/>
          </a:prstGeom>
          <a:solidFill>
            <a:srgbClr val="18080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931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01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</a:rPr>
              <a:t>SENZA protezione anti-allucinazione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35661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— Legale: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avvocato cita in tribunale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sentenze generate da ChatGPT.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esistevano. Il giudice lo sanziona.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— Scientifico: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Articolo peer-reviewed ritirato: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fonti bibliografiche generate da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esistevano. Sostituite con 13 nuove: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ancora inesistenti.</a:t>
            </a:r>
            <a:endParaRPr lang="en-US" sz="950" dirty="0"/>
          </a:p>
          <a:p>
            <a:pPr indent="0" marL="0">
              <a:buNone/>
            </a:pPr>
            <a:r>
              <a:rPr lang="en-US" sz="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Risposte autorevoli, precise, convincenti.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Completamente inventate.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114800" cy="2606040"/>
          </a:xfrm>
          <a:prstGeom prst="rect">
            <a:avLst/>
          </a:prstGeom>
          <a:solidFill>
            <a:srgbClr val="021208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41148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</a:rPr>
              <a:t>NATAN_LOC: RAG-Fortress a 28 livelli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130552"/>
            <a:ext cx="374904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risposta viene costruita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ESCLUSIVAMENTE da claim atomiche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 nei documenti fonte.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secondo modello AI diverso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ostilatamente ogni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affermazione prima della risposta.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mancano evidenze: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 dispongo di informazioni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verificabili" — mai un'invenzione.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4453128"/>
            <a:ext cx="8321040" cy="475488"/>
          </a:xfrm>
          <a:prstGeom prst="rect">
            <a:avLst/>
          </a:prstGeom>
          <a:solidFill>
            <a:srgbClr val="080E1C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URS — Ultra Reliability Score: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4489704"/>
            <a:ext cx="1353312" cy="320040"/>
          </a:xfrm>
          <a:prstGeom prst="rect">
            <a:avLst/>
          </a:prstGeom>
          <a:solidFill>
            <a:srgbClr val="0D111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45445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C55E"/>
                </a:solidFill>
              </a:rPr>
              <a:t>A ≥85  Verificata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26280" y="4489704"/>
            <a:ext cx="1353312" cy="320040"/>
          </a:xfrm>
          <a:prstGeom prst="rect">
            <a:avLst/>
          </a:prstGeom>
          <a:solidFill>
            <a:srgbClr val="0D1117"/>
          </a:solidFill>
          <a:ln w="1016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45445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AB308"/>
                </a:solidFill>
              </a:rPr>
              <a:t>B ≥70  Gap minori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89320" y="4489704"/>
            <a:ext cx="1353312" cy="320040"/>
          </a:xfrm>
          <a:prstGeom prst="rect">
            <a:avLst/>
          </a:prstGeom>
          <a:solidFill>
            <a:srgbClr val="0D111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45445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97316"/>
                </a:solidFill>
              </a:rPr>
              <a:t>C ≥50  Parziale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52360" y="4489704"/>
            <a:ext cx="1353312" cy="320040"/>
          </a:xfrm>
          <a:prstGeom prst="rect">
            <a:avLst/>
          </a:prstGeom>
          <a:solidFill>
            <a:srgbClr val="0D111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45445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X &lt;50  Rifiutata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E8"/>
                </a:solidFill>
              </a:rPr>
              <a:t>ARCHITETTURA TECNICA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0" y="804672"/>
            <a:ext cx="5852160" cy="658368"/>
          </a:xfrm>
          <a:prstGeom prst="rect">
            <a:avLst/>
          </a:prstGeom>
          <a:solidFill>
            <a:srgbClr val="EEF2FF"/>
          </a:solidFill>
          <a:ln w="19050">
            <a:solidFill>
              <a:srgbClr val="1A5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859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11338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Vanilla JS/TS  ·  WCAG 2.1 AA  ·  Responsive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0" cy="11887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45920" y="1581912"/>
            <a:ext cx="5852160" cy="658368"/>
          </a:xfrm>
          <a:prstGeom prst="rect">
            <a:avLst/>
          </a:prstGeom>
          <a:solidFill>
            <a:srgbClr val="F0FF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636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91109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Laravel 12 (PHP)  ·  REST  ·  Multi-tenant  ·  Sanctum Auth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240280"/>
            <a:ext cx="0" cy="11887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45920" y="2359152"/>
            <a:ext cx="5852160" cy="658368"/>
          </a:xfrm>
          <a:prstGeom prst="rect">
            <a:avLst/>
          </a:prstGeom>
          <a:solidFill>
            <a:srgbClr val="FFFBEB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AI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6883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Python  ·  RAG-Fortress  ·  Claude API  ·  118 query precostruite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0" cy="11887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645920" y="3136392"/>
            <a:ext cx="5852160" cy="658368"/>
          </a:xfrm>
          <a:prstGeom prst="rect">
            <a:avLst/>
          </a:prstGeom>
          <a:solidFill>
            <a:srgbClr val="FDF4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DATABASE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346557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PostgreSQL (dati strutturati)  +  MongoDB Atlas (vettoriale — già verticalizzato su Albo Pretorio PA)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3794760"/>
            <a:ext cx="0" cy="118872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645920" y="3913632"/>
            <a:ext cx="5852160" cy="658368"/>
          </a:xfrm>
          <a:prstGeom prst="rect">
            <a:avLst/>
          </a:prstGeom>
          <a:solidFill>
            <a:srgbClr val="F0FD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BLOCKCHAIN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424281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Algorand  ·  Certificazione immutabile  ·  Timestamp crittografici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804672"/>
            <a:ext cx="1371600" cy="3886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" y="1005840"/>
            <a:ext cx="131673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HOSTING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
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DigitalOcean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EU Region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
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GDPR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compliant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99248" y="841248"/>
            <a:ext cx="1325880" cy="329184"/>
          </a:xfrm>
          <a:prstGeom prst="rect">
            <a:avLst/>
          </a:prstGeom>
          <a:solidFill>
            <a:srgbClr val="0D1B40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8503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Laravel 12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99248" y="1591056"/>
            <a:ext cx="1325880" cy="329184"/>
          </a:xfrm>
          <a:prstGeom prst="rect">
            <a:avLst/>
          </a:prstGeom>
          <a:solidFill>
            <a:srgbClr val="0D1B40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9248" y="1600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Python 3.12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99248" y="2340864"/>
            <a:ext cx="1325880" cy="329184"/>
          </a:xfrm>
          <a:prstGeom prst="rect">
            <a:avLst/>
          </a:prstGeom>
          <a:solidFill>
            <a:srgbClr val="0D1B40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23500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MongoDB Atlas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699248" y="3090672"/>
            <a:ext cx="1325880" cy="329184"/>
          </a:xfrm>
          <a:prstGeom prst="rect">
            <a:avLst/>
          </a:prstGeom>
          <a:solidFill>
            <a:srgbClr val="0D1B40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99248" y="30998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Algorand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99248" y="3840480"/>
            <a:ext cx="1325880" cy="329184"/>
          </a:xfrm>
          <a:prstGeom prst="rect">
            <a:avLst/>
          </a:prstGeom>
          <a:solidFill>
            <a:srgbClr val="0D1B40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38496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GDPR Ready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E8"/>
                </a:solidFill>
              </a:rPr>
              <a:t>CASI D'USO PER SERVIZI ALLA STRADA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02920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896112"/>
            <a:ext cx="42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E8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 ZTL, CUDE e autorizzazioni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399032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immediata su migliaia di pratiche aperte. Monitoraggio automatico di scadenze e integrazioni documentali mancanti. Zero tempo sprecato su archivi manuali.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502920" cy="19202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896112"/>
            <a:ext cx="42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914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D.Lgs. 231/01 e OdV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399032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231 diventa contesto di sistema: l'OdV interroga l'archivio documentale con le procedure come riferimento attivo. Configurabile sul Modello specifico di SaS nella fase di setup.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9504"/>
            <a:ext cx="502920" cy="1920240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980944"/>
            <a:ext cx="42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8A04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2999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Certificazione blockchain autorizzazioni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483864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permesso emesso ottiene una firma blockchain Algorand. In caso di ricorsi o contestazioni da parte degli utenti, la prova di validità è incontestabile e verificabile.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9504"/>
            <a:ext cx="502920" cy="1920240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2980944"/>
            <a:ext cx="429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333EA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999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Reportistica verso il Comune di Firenze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483864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automatica di report aggregati per il socio unico: volumi per tipologia di pratica, KPI operativi, trend mensili. Nessuna elaborazione manuale.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6E8"/>
                </a:solidFill>
              </a:rPr>
              <a:t>COME LAVORIAMO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1463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verticalizzazione di NATAN_LOC parte dalla comprensione delle esigenze reali del cliente. Non proponiamo soluzioni standard: costruiamo la configurazione giusta per i vostri processi specifici.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697480" cy="64008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755648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373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E8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37744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Incontro di approfondimento per capire i vostri processi documentali, le aree di rischio, i sistemi IT esistenti e le priorità operative. Nessuna soluzione pre-confezionata.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600200"/>
            <a:ext cx="269748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60020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755648"/>
            <a:ext cx="475488" cy="47548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7373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68496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Mostriamo NATAN_LOC in funzione su atti reali di Albo Pretorio della PA italiana — il dominio più vicino al vostro contesto operativo. Niente slide: interrogazione live del sistema.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600200"/>
            <a:ext cx="269748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600200"/>
            <a:ext cx="2697480" cy="640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755648"/>
            <a:ext cx="475488" cy="475488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73736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33E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1424" y="1801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verticale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6208" y="2377440"/>
            <a:ext cx="23957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dopo aver capito le vostre esigenze reali definiamo insieme il perimetro del progetto, le funzionalità prioritarie e la modalità di collaborazione.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1A56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6725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3D9E"/>
                </a:solidFill>
              </a:rPr>
              <a:t>Modello SaaS con verticalizzazione: setup iniziale + canone annuale per licenza, manutenzione e supporto dedicato.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A1640"/>
          </a:solidFill>
          <a:ln w="12700">
            <a:solidFill>
              <a:srgbClr val="0A16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56E8"/>
                </a:solidFill>
              </a:rPr>
              <a:t>FLORENCE EGI srl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 a mostrarvi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NATAN_LOC in azione.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demo di 45 minuti è sufficiente per valutare il valore concreto della piattaforma per i processi di Servizi alla Strada.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Fabio Cherici · CEO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fabio@florenceegi.com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66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Edoardo Boccherini · Business Development &amp; Sales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Sito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4087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florenceegi.com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553712"/>
            <a:ext cx="5760720" cy="365760"/>
          </a:xfrm>
          <a:prstGeom prst="rect">
            <a:avLst/>
          </a:prstGeom>
          <a:solidFill>
            <a:srgbClr val="1A56E8">
              <a:alpha val="20000"/>
            </a:srgbClr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90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C5FD"/>
                </a:solidFill>
              </a:rPr>
              <a:t>Incontro con il Presidente  ·  6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NATAN_LOC — Florence EGI srl</dc:title>
  <dc:subject>PptxGenJS Presentation</dc:subject>
  <dc:creator>Florence EGI srl</dc:creator>
  <cp:lastModifiedBy>Florence EGI srl</cp:lastModifiedBy>
  <cp:revision>1</cp:revision>
  <dcterms:created xsi:type="dcterms:W3CDTF">2026-02-19T16:20:46Z</dcterms:created>
  <dcterms:modified xsi:type="dcterms:W3CDTF">2026-02-19T16:20:46Z</dcterms:modified>
</cp:coreProperties>
</file>